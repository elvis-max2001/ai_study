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20" r:id="rId2"/>
    <p:sldId id="339" r:id="rId3"/>
    <p:sldId id="347" r:id="rId4"/>
    <p:sldId id="340" r:id="rId5"/>
    <p:sldId id="341" r:id="rId6"/>
    <p:sldId id="318" r:id="rId7"/>
    <p:sldId id="344" r:id="rId8"/>
    <p:sldId id="345" r:id="rId9"/>
    <p:sldId id="346" r:id="rId10"/>
    <p:sldId id="348" r:id="rId11"/>
    <p:sldId id="32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82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300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98E98-4888-406C-8341-2D2C78D2F981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05797-F83B-4579-AEC5-7A678E719E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43E24-5F9D-D1E2-C599-828EC18F7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DC9F7-B2E3-65FC-262A-39FCBD87E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40B11-15EF-0D48-D98C-4BADF1051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0DB1C-2FEC-22A4-AE70-3E227317F0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79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EA687-60F1-0617-FF18-8E1446F1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D6164-B748-E7ED-7395-920A02B2D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834A7-D5DE-D9F2-9090-2B8E0402A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28AE8-11CF-2F10-5919-122674922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68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E0ADC-2AA1-3FC8-5EF6-009B002E1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89925-848C-FC99-9158-EEB8688EE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D9E1B-F7A2-C6D2-8A1A-E57ABFE22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A5403-FC09-A1A6-11EE-8B09C1377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67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8B10-89DF-7F7C-A219-BA169E9C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F463-19D1-C8A3-9E1F-7FD2AE1D3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215317-7233-3CB2-711C-5B6F271E5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483DE-8D1B-6701-9852-303CDF1FA9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93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70622-D105-DEB7-C95D-05380C3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93F30-AB35-C494-C196-99D66697F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40229-13F6-D2D8-FE5A-2FC0D8B49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771C7-A11C-6855-584C-4E87E11B3B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28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5DE0-9907-B895-D0CA-A0176E54F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0DC2A-9570-46EC-0FD6-0AE66A62F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B1DC9-8C76-FF42-3A7E-4D8D4AC23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FC0B4-C403-3EF0-95C7-E933B10EF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93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20C80-45E3-7576-4A4B-1BA5B2D9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2">
            <a:extLst>
              <a:ext uri="{FF2B5EF4-FFF2-40B4-BE49-F238E27FC236}">
                <a16:creationId xmlns:a16="http://schemas.microsoft.com/office/drawing/2014/main" id="{DE6B7599-78C8-D302-B111-37D404CD0741}"/>
              </a:ext>
            </a:extLst>
          </p:cNvPr>
          <p:cNvSpPr/>
          <p:nvPr/>
        </p:nvSpPr>
        <p:spPr>
          <a:xfrm>
            <a:off x="3721521" y="233507"/>
            <a:ext cx="5374688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base"/>
            <a:r>
              <a:rPr lang="zh-CN" altLang="en-US" sz="4267" b="1">
                <a:solidFill>
                  <a:srgbClr val="FF0000"/>
                </a:solidFill>
              </a:rPr>
              <a:t>什么是</a:t>
            </a:r>
            <a:r>
              <a:rPr lang="en-US" altLang="zh-CN" sz="4267" b="1">
                <a:solidFill>
                  <a:srgbClr val="FF0000"/>
                </a:solidFill>
              </a:rPr>
              <a:t>Agent Skills</a:t>
            </a:r>
            <a:r>
              <a:rPr lang="zh-CN" altLang="en-US" sz="4267" b="1">
                <a:solidFill>
                  <a:srgbClr val="FF0000"/>
                </a:solidFill>
              </a:rPr>
              <a:t>？</a:t>
            </a:r>
            <a:endParaRPr lang="en-US" altLang="zh-CN" sz="4267" b="1">
              <a:solidFill>
                <a:srgbClr val="FF0000"/>
              </a:solidFill>
            </a:endParaRPr>
          </a:p>
        </p:txBody>
      </p:sp>
      <p:sp>
        <p:nvSpPr>
          <p:cNvPr id="4" name="Object3">
            <a:extLst>
              <a:ext uri="{FF2B5EF4-FFF2-40B4-BE49-F238E27FC236}">
                <a16:creationId xmlns:a16="http://schemas.microsoft.com/office/drawing/2014/main" id="{F539F7A3-1038-354F-F1A1-2963C8EB2651}"/>
              </a:ext>
            </a:extLst>
          </p:cNvPr>
          <p:cNvSpPr/>
          <p:nvPr/>
        </p:nvSpPr>
        <p:spPr>
          <a:xfrm>
            <a:off x="1376141" y="4529840"/>
            <a:ext cx="10065451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2500"/>
              </a:lnSpc>
            </a:pPr>
            <a:endParaRPr lang="en-US" sz="2000" dirty="0"/>
          </a:p>
          <a:p>
            <a:pPr>
              <a:lnSpc>
                <a:spcPct val="112500"/>
              </a:lnSpc>
            </a:pPr>
            <a:endParaRPr 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6D024F-F394-7EA8-4744-B7B16C65D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36" y="218353"/>
            <a:ext cx="2070389" cy="68589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166AEAC-0BD5-D09E-C798-FD083AD8A80A}"/>
              </a:ext>
            </a:extLst>
          </p:cNvPr>
          <p:cNvSpPr txBox="1"/>
          <p:nvPr/>
        </p:nvSpPr>
        <p:spPr>
          <a:xfrm>
            <a:off x="1376140" y="1948874"/>
            <a:ext cx="9707496" cy="4237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67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 Skills = Skills</a:t>
            </a:r>
            <a:r>
              <a:rPr lang="zh-CN" altLang="en-US" sz="2667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架构的</a:t>
            </a:r>
            <a:r>
              <a:rPr lang="en-US" altLang="zh-CN" sz="2667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</a:t>
            </a:r>
            <a:r>
              <a:rPr lang="zh-CN" altLang="en-US" sz="2667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667" b="1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2667" b="1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2025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 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月中旬，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Anthropic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正式发布 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Claude Skills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endParaRPr lang="zh-CN" altLang="en-US" sz="2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两个月后，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 Skills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作为开放标准被进一步发布，意在引导一个新的 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 Agent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开发生态。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可通过加载不同的 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Skills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包，来具备不同的专业知识、工具使用能力，稳定完成特定任务。</a:t>
            </a:r>
            <a:endParaRPr lang="en-US" altLang="zh-CN" sz="2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2400" b="1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Skills 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是模块化的能力，扩展了 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的功能。每个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Skill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都打包了 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LLM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指令、元数据、可选资源（脚本、模板等），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会在需要时自动使用他们。</a:t>
            </a:r>
            <a:endParaRPr lang="en-US" altLang="zh-CN" sz="2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9702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CBD45-9B89-FE7F-1AA1-2385D204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2">
            <a:extLst>
              <a:ext uri="{FF2B5EF4-FFF2-40B4-BE49-F238E27FC236}">
                <a16:creationId xmlns:a16="http://schemas.microsoft.com/office/drawing/2014/main" id="{4E5F31D4-FE2A-BA95-6079-0F68ACEE25F2}"/>
              </a:ext>
            </a:extLst>
          </p:cNvPr>
          <p:cNvSpPr/>
          <p:nvPr/>
        </p:nvSpPr>
        <p:spPr>
          <a:xfrm>
            <a:off x="3721521" y="233507"/>
            <a:ext cx="5374688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base"/>
            <a:r>
              <a:rPr lang="en-US" altLang="zh-CN" sz="4267" b="1">
                <a:solidFill>
                  <a:srgbClr val="FF0000"/>
                </a:solidFill>
              </a:rPr>
              <a:t>Agent Skills</a:t>
            </a:r>
            <a:r>
              <a:rPr lang="zh-CN" altLang="en-US" sz="4267" b="1">
                <a:solidFill>
                  <a:srgbClr val="FF0000"/>
                </a:solidFill>
              </a:rPr>
              <a:t>来干什么？</a:t>
            </a:r>
            <a:endParaRPr lang="en-US" altLang="zh-CN" sz="4267" b="1">
              <a:solidFill>
                <a:srgbClr val="FF0000"/>
              </a:solidFill>
            </a:endParaRPr>
          </a:p>
        </p:txBody>
      </p:sp>
      <p:sp>
        <p:nvSpPr>
          <p:cNvPr id="4" name="Object3">
            <a:extLst>
              <a:ext uri="{FF2B5EF4-FFF2-40B4-BE49-F238E27FC236}">
                <a16:creationId xmlns:a16="http://schemas.microsoft.com/office/drawing/2014/main" id="{9FFEB068-EA3A-21FD-8980-80A145C1E74A}"/>
              </a:ext>
            </a:extLst>
          </p:cNvPr>
          <p:cNvSpPr/>
          <p:nvPr/>
        </p:nvSpPr>
        <p:spPr>
          <a:xfrm>
            <a:off x="1376141" y="4529840"/>
            <a:ext cx="10065451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2500"/>
              </a:lnSpc>
            </a:pPr>
            <a:endParaRPr lang="en-US" sz="2000" dirty="0"/>
          </a:p>
          <a:p>
            <a:pPr>
              <a:lnSpc>
                <a:spcPct val="112500"/>
              </a:lnSpc>
            </a:pPr>
            <a:endParaRPr 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677989-040F-0D31-CEF5-B356758BE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36" y="218353"/>
            <a:ext cx="2070389" cy="68589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A178D68-E2AD-31AA-E3D8-38CEB49EA9B4}"/>
              </a:ext>
            </a:extLst>
          </p:cNvPr>
          <p:cNvSpPr txBox="1"/>
          <p:nvPr/>
        </p:nvSpPr>
        <p:spPr>
          <a:xfrm>
            <a:off x="1376141" y="1235980"/>
            <a:ext cx="9707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为了更好的理解，你可以把 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Skills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理解为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“通用 </a:t>
            </a:r>
            <a:r>
              <a:rPr lang="en-US" altLang="zh-CN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 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的扩展包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”：</a:t>
            </a:r>
          </a:p>
          <a:p>
            <a:endParaRPr lang="zh-CN" altLang="en-US" sz="2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可通过加载不同的 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Skills 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包，来具备不同的专业知识、工具使用能力，稳定完成特定任务。。</a:t>
            </a:r>
            <a:endParaRPr lang="en-US" altLang="zh-CN" sz="2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AutoShape 2" descr="Image #6">
            <a:extLst>
              <a:ext uri="{FF2B5EF4-FFF2-40B4-BE49-F238E27FC236}">
                <a16:creationId xmlns:a16="http://schemas.microsoft.com/office/drawing/2014/main" id="{F8A241D6-503A-4070-D47D-42B68E2292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68B4EE61-E16E-9B85-7C37-E94C9E314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488" y="2723553"/>
            <a:ext cx="8344623" cy="40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055E4BC1-50A3-ED5C-0260-E539CA68E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16" y="1165084"/>
            <a:ext cx="7917384" cy="5616716"/>
          </a:xfrm>
          <a:prstGeom prst="rect">
            <a:avLst/>
          </a:prstGeom>
        </p:spPr>
      </p:pic>
      <p:sp>
        <p:nvSpPr>
          <p:cNvPr id="4" name="Object2">
            <a:extLst>
              <a:ext uri="{FF2B5EF4-FFF2-40B4-BE49-F238E27FC236}">
                <a16:creationId xmlns:a16="http://schemas.microsoft.com/office/drawing/2014/main" id="{2B88D88B-5B34-A960-FA47-8718CC707BC1}"/>
              </a:ext>
            </a:extLst>
          </p:cNvPr>
          <p:cNvSpPr/>
          <p:nvPr/>
        </p:nvSpPr>
        <p:spPr>
          <a:xfrm>
            <a:off x="3721521" y="233507"/>
            <a:ext cx="5374688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base"/>
            <a:r>
              <a:rPr lang="en-US" altLang="zh-CN" sz="4267" b="1">
                <a:solidFill>
                  <a:srgbClr val="FF0000"/>
                </a:solidFill>
              </a:rPr>
              <a:t>Multi-Agent</a:t>
            </a:r>
            <a:r>
              <a:rPr lang="zh-CN" altLang="en-US" sz="4267" b="1">
                <a:solidFill>
                  <a:srgbClr val="FF0000"/>
                </a:solidFill>
              </a:rPr>
              <a:t>是什么？</a:t>
            </a:r>
            <a:endParaRPr lang="en-US" altLang="zh-CN" sz="4267" b="1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FBC1E4-1CE1-A369-56CF-7DFD74EF3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36" y="218353"/>
            <a:ext cx="2070389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65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C43AB-A59A-0F8C-D5BC-EEA1892D6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2">
            <a:extLst>
              <a:ext uri="{FF2B5EF4-FFF2-40B4-BE49-F238E27FC236}">
                <a16:creationId xmlns:a16="http://schemas.microsoft.com/office/drawing/2014/main" id="{E62998E3-F5E6-7B4E-1365-F7F7C4CD0264}"/>
              </a:ext>
            </a:extLst>
          </p:cNvPr>
          <p:cNvSpPr/>
          <p:nvPr/>
        </p:nvSpPr>
        <p:spPr>
          <a:xfrm>
            <a:off x="3721520" y="233507"/>
            <a:ext cx="5993979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base"/>
            <a:r>
              <a:rPr lang="en-US" altLang="zh-CN" sz="4267" b="1">
                <a:solidFill>
                  <a:srgbClr val="FF0000"/>
                </a:solidFill>
              </a:rPr>
              <a:t>Agent Skills</a:t>
            </a:r>
            <a:r>
              <a:rPr lang="zh-CN" altLang="en-US" sz="4267" b="1">
                <a:solidFill>
                  <a:srgbClr val="FF0000"/>
                </a:solidFill>
              </a:rPr>
              <a:t>和</a:t>
            </a:r>
            <a:r>
              <a:rPr lang="en-US" altLang="zh-CN" sz="4267" b="1">
                <a:solidFill>
                  <a:srgbClr val="FF0000"/>
                </a:solidFill>
              </a:rPr>
              <a:t>Milti-Agent</a:t>
            </a:r>
          </a:p>
        </p:txBody>
      </p:sp>
      <p:sp>
        <p:nvSpPr>
          <p:cNvPr id="4" name="Object3">
            <a:extLst>
              <a:ext uri="{FF2B5EF4-FFF2-40B4-BE49-F238E27FC236}">
                <a16:creationId xmlns:a16="http://schemas.microsoft.com/office/drawing/2014/main" id="{9AC373ED-BE44-B8E6-D1B0-F944D2361C3D}"/>
              </a:ext>
            </a:extLst>
          </p:cNvPr>
          <p:cNvSpPr/>
          <p:nvPr/>
        </p:nvSpPr>
        <p:spPr>
          <a:xfrm>
            <a:off x="1376141" y="4529840"/>
            <a:ext cx="10065451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2500"/>
              </a:lnSpc>
            </a:pPr>
            <a:endParaRPr lang="en-US" sz="2000" dirty="0"/>
          </a:p>
          <a:p>
            <a:pPr>
              <a:lnSpc>
                <a:spcPct val="112500"/>
              </a:lnSpc>
            </a:pPr>
            <a:endParaRPr 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79D713A-C8AC-3B47-69DA-C991325FC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36" y="218353"/>
            <a:ext cx="2070389" cy="68589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B3D783E-7511-8596-08DE-B196B5CD562C}"/>
              </a:ext>
            </a:extLst>
          </p:cNvPr>
          <p:cNvSpPr txBox="1"/>
          <p:nvPr/>
        </p:nvSpPr>
        <p:spPr>
          <a:xfrm>
            <a:off x="1376141" y="1372845"/>
            <a:ext cx="9707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 Skills​ Multi-Agent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架构​ 都旨在解决“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如何让</a:t>
            </a:r>
            <a:r>
              <a:rPr lang="en-US" altLang="zh-CN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处理复杂任务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”的问题，但它们的思路、实现路径和适用场景有本质区别。</a:t>
            </a:r>
            <a:endParaRPr lang="en-US" altLang="zh-CN" sz="2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AutoShape 2" descr="Image #6">
            <a:extLst>
              <a:ext uri="{FF2B5EF4-FFF2-40B4-BE49-F238E27FC236}">
                <a16:creationId xmlns:a16="http://schemas.microsoft.com/office/drawing/2014/main" id="{77D0BE64-1834-F4BB-1C82-E58140C00F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" name="图片 7" descr="手机屏幕截图&#10;&#10;AI 生成的内容可能不正确。">
            <a:extLst>
              <a:ext uri="{FF2B5EF4-FFF2-40B4-BE49-F238E27FC236}">
                <a16:creationId xmlns:a16="http://schemas.microsoft.com/office/drawing/2014/main" id="{577CDE1B-DA97-5923-F52D-6570DCCCE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209" y="2203842"/>
            <a:ext cx="10343317" cy="431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718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72138-A560-A990-66E3-2231107B1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2">
            <a:extLst>
              <a:ext uri="{FF2B5EF4-FFF2-40B4-BE49-F238E27FC236}">
                <a16:creationId xmlns:a16="http://schemas.microsoft.com/office/drawing/2014/main" id="{A35EF50A-D7C4-5E47-0401-8F90396A038D}"/>
              </a:ext>
            </a:extLst>
          </p:cNvPr>
          <p:cNvSpPr/>
          <p:nvPr/>
        </p:nvSpPr>
        <p:spPr>
          <a:xfrm>
            <a:off x="3721520" y="233507"/>
            <a:ext cx="5993979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base"/>
            <a:r>
              <a:rPr lang="en-US" altLang="zh-CN" sz="4267" b="1">
                <a:solidFill>
                  <a:srgbClr val="FF0000"/>
                </a:solidFill>
              </a:rPr>
              <a:t>Agent Skills</a:t>
            </a:r>
            <a:r>
              <a:rPr lang="zh-CN" altLang="en-US" sz="4267" b="1">
                <a:solidFill>
                  <a:srgbClr val="FF0000"/>
                </a:solidFill>
              </a:rPr>
              <a:t>和</a:t>
            </a:r>
            <a:r>
              <a:rPr lang="en-US" altLang="zh-CN" sz="4267" b="1">
                <a:solidFill>
                  <a:srgbClr val="FF0000"/>
                </a:solidFill>
              </a:rPr>
              <a:t>Milti-Agent</a:t>
            </a:r>
          </a:p>
        </p:txBody>
      </p:sp>
      <p:sp>
        <p:nvSpPr>
          <p:cNvPr id="4" name="Object3">
            <a:extLst>
              <a:ext uri="{FF2B5EF4-FFF2-40B4-BE49-F238E27FC236}">
                <a16:creationId xmlns:a16="http://schemas.microsoft.com/office/drawing/2014/main" id="{F647EDD6-FAD3-3233-96D3-DE2B931C6616}"/>
              </a:ext>
            </a:extLst>
          </p:cNvPr>
          <p:cNvSpPr/>
          <p:nvPr/>
        </p:nvSpPr>
        <p:spPr>
          <a:xfrm>
            <a:off x="1376141" y="4529840"/>
            <a:ext cx="10065451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2500"/>
              </a:lnSpc>
            </a:pPr>
            <a:endParaRPr lang="en-US" sz="2000" dirty="0"/>
          </a:p>
          <a:p>
            <a:pPr>
              <a:lnSpc>
                <a:spcPct val="112500"/>
              </a:lnSpc>
            </a:pPr>
            <a:endParaRPr 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C6495F6-1D8A-D79A-0B46-06892A15A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36" y="218353"/>
            <a:ext cx="2070389" cy="68589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D42668C-089F-E551-A998-BFB9D9FD012B}"/>
              </a:ext>
            </a:extLst>
          </p:cNvPr>
          <p:cNvSpPr txBox="1"/>
          <p:nvPr/>
        </p:nvSpPr>
        <p:spPr>
          <a:xfrm>
            <a:off x="1376141" y="1372845"/>
            <a:ext cx="9707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 Skills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是“模块化的方式强化个人”，而</a:t>
            </a:r>
            <a:r>
              <a:rPr lang="en-US" altLang="zh-CN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Supervisor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多</a:t>
            </a:r>
            <a:r>
              <a:rPr lang="en-US" altLang="zh-CN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是“协作的方式建设团队”。</a:t>
            </a:r>
            <a:endParaRPr lang="en-US" altLang="zh-CN" sz="2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AutoShape 2" descr="Image #6">
            <a:extLst>
              <a:ext uri="{FF2B5EF4-FFF2-40B4-BE49-F238E27FC236}">
                <a16:creationId xmlns:a16="http://schemas.microsoft.com/office/drawing/2014/main" id="{10371AFE-817F-63A2-29DD-FFE4872A32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 descr="图形用户界面, 文本, 表格&#10;&#10;AI 生成的内容可能不正确。">
            <a:extLst>
              <a:ext uri="{FF2B5EF4-FFF2-40B4-BE49-F238E27FC236}">
                <a16:creationId xmlns:a16="http://schemas.microsoft.com/office/drawing/2014/main" id="{E62224FA-AE4A-C1D9-20E9-817DEC3DD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36" y="2203841"/>
            <a:ext cx="11701844" cy="372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1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A4A81-7BF4-3EB2-3AC7-F22713479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2">
            <a:extLst>
              <a:ext uri="{FF2B5EF4-FFF2-40B4-BE49-F238E27FC236}">
                <a16:creationId xmlns:a16="http://schemas.microsoft.com/office/drawing/2014/main" id="{D90E92E6-8430-CA97-F1FD-496232AB9CF1}"/>
              </a:ext>
            </a:extLst>
          </p:cNvPr>
          <p:cNvSpPr/>
          <p:nvPr/>
        </p:nvSpPr>
        <p:spPr>
          <a:xfrm>
            <a:off x="3332668" y="331268"/>
            <a:ext cx="6152395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base"/>
            <a:r>
              <a:rPr lang="zh-CN" altLang="en-US" sz="3600" b="1">
                <a:solidFill>
                  <a:srgbClr val="FF0000"/>
                </a:solidFill>
              </a:rPr>
              <a:t>最近的笔试和面试有哪些变化</a:t>
            </a:r>
            <a:endParaRPr lang="en-US" altLang="zh-CN" sz="3600" b="1">
              <a:solidFill>
                <a:srgbClr val="FF0000"/>
              </a:solidFill>
            </a:endParaRPr>
          </a:p>
        </p:txBody>
      </p:sp>
      <p:sp>
        <p:nvSpPr>
          <p:cNvPr id="4" name="Object3">
            <a:extLst>
              <a:ext uri="{FF2B5EF4-FFF2-40B4-BE49-F238E27FC236}">
                <a16:creationId xmlns:a16="http://schemas.microsoft.com/office/drawing/2014/main" id="{E24FA24B-C6B3-99A1-E3B5-04D435195F1C}"/>
              </a:ext>
            </a:extLst>
          </p:cNvPr>
          <p:cNvSpPr/>
          <p:nvPr/>
        </p:nvSpPr>
        <p:spPr>
          <a:xfrm>
            <a:off x="1376141" y="4529840"/>
            <a:ext cx="10065451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2500"/>
              </a:lnSpc>
            </a:pPr>
            <a:endParaRPr lang="en-US" sz="2000" dirty="0"/>
          </a:p>
          <a:p>
            <a:pPr>
              <a:lnSpc>
                <a:spcPct val="112500"/>
              </a:lnSpc>
            </a:pPr>
            <a:endParaRPr 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527967-C2C1-C8E4-5CF2-4E300826E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36" y="218353"/>
            <a:ext cx="2070389" cy="68589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33D93FD-C29B-7CDE-476B-272F8CAA2C42}"/>
              </a:ext>
            </a:extLst>
          </p:cNvPr>
          <p:cNvSpPr txBox="1"/>
          <p:nvPr/>
        </p:nvSpPr>
        <p:spPr>
          <a:xfrm>
            <a:off x="1254285" y="1551447"/>
            <a:ext cx="100654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+mj-ea"/>
              <a:buAutoNum type="ea1JpnChsDbPeriod"/>
            </a:pPr>
            <a:r>
              <a:rPr lang="zh-CN" altLang="en-US" sz="2400"/>
              <a:t>数据结构和算法的笔试。</a:t>
            </a: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r>
              <a:rPr lang="en-US" altLang="zh-CN" sz="2400"/>
              <a:t>Agent</a:t>
            </a:r>
            <a:r>
              <a:rPr lang="zh-CN" altLang="en-US" sz="2400"/>
              <a:t>问的多，尤其是多</a:t>
            </a:r>
            <a:r>
              <a:rPr lang="en-US" altLang="zh-CN" sz="2400"/>
              <a:t>Agent</a:t>
            </a:r>
            <a:r>
              <a:rPr lang="zh-CN" altLang="en-US" sz="2400"/>
              <a:t>架构。</a:t>
            </a: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r>
              <a:rPr lang="zh-CN" altLang="en-US" sz="2400"/>
              <a:t>评估问的多。</a:t>
            </a:r>
            <a:r>
              <a:rPr lang="en-US" altLang="zh-CN" sz="2400"/>
              <a:t>Agent</a:t>
            </a:r>
            <a:r>
              <a:rPr lang="zh-CN" altLang="en-US" sz="2400"/>
              <a:t>和</a:t>
            </a:r>
            <a:r>
              <a:rPr lang="en-US" altLang="zh-CN" sz="2400"/>
              <a:t>RAG</a:t>
            </a:r>
            <a:r>
              <a:rPr lang="zh-CN" altLang="en-US" sz="2400"/>
              <a:t>的评估</a:t>
            </a: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r>
              <a:rPr lang="zh-CN" altLang="en-US" sz="2400"/>
              <a:t>切片和向量数据库问的多。</a:t>
            </a: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r>
              <a:rPr lang="zh-CN" altLang="en-US" sz="2400"/>
              <a:t>上下文工程问的多。</a:t>
            </a: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r>
              <a:rPr lang="en-US" altLang="zh-CN" sz="2400"/>
              <a:t>Rerank</a:t>
            </a:r>
            <a:r>
              <a:rPr lang="zh-CN" altLang="en-US" sz="2400"/>
              <a:t>重排会问到。</a:t>
            </a: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r>
              <a:rPr lang="zh-CN" altLang="en-US" sz="2400"/>
              <a:t>工程化解决方案问的多。</a:t>
            </a: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r>
              <a:rPr lang="zh-CN" altLang="en-US" sz="2400"/>
              <a:t>应用开发也会问算法，但是停留在了解层面。</a:t>
            </a: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r>
              <a:rPr lang="zh-CN" altLang="en-US" sz="2400"/>
              <a:t>应用开发也偶尔问</a:t>
            </a:r>
            <a:r>
              <a:rPr lang="en-US" altLang="zh-CN" sz="2400"/>
              <a:t>Pytorch</a:t>
            </a:r>
            <a:r>
              <a:rPr lang="zh-CN" altLang="en-US" sz="2400"/>
              <a:t>（深度学习的框架）</a:t>
            </a: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r>
              <a:rPr lang="zh-CN" altLang="en-US" sz="2400"/>
              <a:t>研发工程师一定问算法和</a:t>
            </a:r>
            <a:r>
              <a:rPr lang="en-US" altLang="zh-CN" sz="2400"/>
              <a:t>Pytorch</a:t>
            </a:r>
          </a:p>
          <a:p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763682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57264-7A17-3BA1-A263-AC86AEF0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2">
            <a:extLst>
              <a:ext uri="{FF2B5EF4-FFF2-40B4-BE49-F238E27FC236}">
                <a16:creationId xmlns:a16="http://schemas.microsoft.com/office/drawing/2014/main" id="{D9BE3840-F991-D4CD-DBDD-D30B8BCBCC0A}"/>
              </a:ext>
            </a:extLst>
          </p:cNvPr>
          <p:cNvSpPr/>
          <p:nvPr/>
        </p:nvSpPr>
        <p:spPr>
          <a:xfrm>
            <a:off x="3332668" y="331268"/>
            <a:ext cx="7083872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base"/>
            <a:r>
              <a:rPr lang="zh-CN" altLang="en-US" sz="3600" b="1">
                <a:solidFill>
                  <a:srgbClr val="FF0000"/>
                </a:solidFill>
              </a:rPr>
              <a:t>关于</a:t>
            </a:r>
            <a:r>
              <a:rPr lang="en-US" altLang="zh-CN" sz="3600" b="1">
                <a:solidFill>
                  <a:srgbClr val="FF0000"/>
                </a:solidFill>
              </a:rPr>
              <a:t>Agent</a:t>
            </a:r>
            <a:r>
              <a:rPr lang="zh-CN" altLang="en-US" sz="3600" b="1">
                <a:solidFill>
                  <a:srgbClr val="FF0000"/>
                </a:solidFill>
              </a:rPr>
              <a:t>和</a:t>
            </a:r>
            <a:r>
              <a:rPr lang="en-US" altLang="zh-CN" sz="3600" b="1">
                <a:solidFill>
                  <a:srgbClr val="FF0000"/>
                </a:solidFill>
              </a:rPr>
              <a:t>Multi-Agent</a:t>
            </a:r>
            <a:r>
              <a:rPr lang="zh-CN" altLang="en-US" sz="3600" b="1">
                <a:solidFill>
                  <a:srgbClr val="FF0000"/>
                </a:solidFill>
              </a:rPr>
              <a:t>的面试题</a:t>
            </a:r>
            <a:endParaRPr lang="en-US" altLang="zh-CN" sz="3600" b="1">
              <a:solidFill>
                <a:srgbClr val="FF0000"/>
              </a:solidFill>
            </a:endParaRPr>
          </a:p>
        </p:txBody>
      </p:sp>
      <p:sp>
        <p:nvSpPr>
          <p:cNvPr id="4" name="Object3">
            <a:extLst>
              <a:ext uri="{FF2B5EF4-FFF2-40B4-BE49-F238E27FC236}">
                <a16:creationId xmlns:a16="http://schemas.microsoft.com/office/drawing/2014/main" id="{AB283E74-EDB1-0621-6DB8-9346D67313EA}"/>
              </a:ext>
            </a:extLst>
          </p:cNvPr>
          <p:cNvSpPr/>
          <p:nvPr/>
        </p:nvSpPr>
        <p:spPr>
          <a:xfrm>
            <a:off x="1376141" y="4529840"/>
            <a:ext cx="10065451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2500"/>
              </a:lnSpc>
            </a:pPr>
            <a:endParaRPr lang="en-US" sz="2000" dirty="0"/>
          </a:p>
          <a:p>
            <a:pPr>
              <a:lnSpc>
                <a:spcPct val="112500"/>
              </a:lnSpc>
            </a:pPr>
            <a:endParaRPr 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178ED5-2E8F-4EB3-5E78-4F9F2F011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36" y="218353"/>
            <a:ext cx="2070389" cy="68589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4919129-9446-0301-8585-FA2270051F45}"/>
              </a:ext>
            </a:extLst>
          </p:cNvPr>
          <p:cNvSpPr txBox="1"/>
          <p:nvPr/>
        </p:nvSpPr>
        <p:spPr>
          <a:xfrm>
            <a:off x="1254285" y="1551447"/>
            <a:ext cx="10065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+mj-ea"/>
              <a:buAutoNum type="ea1JpnChsDbPeriod"/>
            </a:pPr>
            <a:r>
              <a:rPr lang="en-US" altLang="zh-CN" sz="2400"/>
              <a:t>WorkFlow </a:t>
            </a:r>
            <a:r>
              <a:rPr lang="zh-CN" altLang="en-US" sz="2400"/>
              <a:t>和 </a:t>
            </a:r>
            <a:r>
              <a:rPr lang="en-US" altLang="zh-CN" sz="2400"/>
              <a:t>Agent</a:t>
            </a:r>
            <a:r>
              <a:rPr lang="zh-CN" altLang="en-US" sz="2400"/>
              <a:t>有什么区别？</a:t>
            </a: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r>
              <a:rPr lang="zh-CN" altLang="en-US" sz="2400"/>
              <a:t>能直接把超过</a:t>
            </a:r>
            <a:r>
              <a:rPr lang="en-US" altLang="zh-CN" sz="2400"/>
              <a:t>30</a:t>
            </a:r>
            <a:r>
              <a:rPr lang="zh-CN" altLang="en-US" sz="2400"/>
              <a:t>个以上的工具都给</a:t>
            </a:r>
            <a:r>
              <a:rPr lang="en-US" altLang="zh-CN" sz="2400"/>
              <a:t>Agent</a:t>
            </a:r>
            <a:r>
              <a:rPr lang="zh-CN" altLang="en-US" sz="2400"/>
              <a:t>？</a:t>
            </a: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r>
              <a:rPr lang="en-US" altLang="zh-CN" sz="2400"/>
              <a:t>Multi-Agent</a:t>
            </a:r>
            <a:r>
              <a:rPr lang="zh-CN" altLang="en-US" sz="2400"/>
              <a:t>的连接方式有那几种？</a:t>
            </a: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r>
              <a:rPr lang="zh-CN" altLang="en-US" sz="2400"/>
              <a:t>怎么确保</a:t>
            </a:r>
            <a:r>
              <a:rPr lang="en-US" altLang="zh-CN" sz="2400"/>
              <a:t>Agent</a:t>
            </a:r>
            <a:r>
              <a:rPr lang="zh-CN" altLang="en-US" sz="2400"/>
              <a:t>能正确完成意图决策从而选择合适的工具？</a:t>
            </a: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endParaRPr lang="en-US" altLang="zh-CN" sz="2400"/>
          </a:p>
          <a:p>
            <a:pPr marL="514338" indent="-514338">
              <a:buFont typeface="+mj-ea"/>
              <a:buAutoNum type="ea1JpnChsDbPeriod"/>
            </a:pP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3533509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841B9F23-C861-1276-D86A-D7BFEAF68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860"/>
            <a:ext cx="12192000" cy="539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77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手机屏幕的截图&#10;&#10;AI 生成的内容可能不正确。">
            <a:extLst>
              <a:ext uri="{FF2B5EF4-FFF2-40B4-BE49-F238E27FC236}">
                <a16:creationId xmlns:a16="http://schemas.microsoft.com/office/drawing/2014/main" id="{1FDABB70-8A99-F5CD-869D-FA378A66A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63" y="1394289"/>
            <a:ext cx="11225233" cy="39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127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2F0FD4C-A93A-FF7F-0E02-71B5F5507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687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AD7B3C6E-AC14-3F72-4E81-8F6C40A78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70" y="0"/>
            <a:ext cx="11758059" cy="661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17831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379</Words>
  <Application>Microsoft Office PowerPoint</Application>
  <PresentationFormat>宽屏</PresentationFormat>
  <Paragraphs>42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微软雅黑 Light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goldbin</dc:creator>
  <cp:lastModifiedBy>goldbin</cp:lastModifiedBy>
  <cp:revision>22</cp:revision>
  <dcterms:created xsi:type="dcterms:W3CDTF">2023-08-09T12:44:00Z</dcterms:created>
  <dcterms:modified xsi:type="dcterms:W3CDTF">2026-02-07T17:08:13Z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AEA09ED2BD4F44F491C7617701549E56_13</vt:lpwstr>
  </property>
</Properties>
</file>